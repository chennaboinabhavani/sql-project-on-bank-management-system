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12" r:id="rId5"/>
    <p:sldId id="329" r:id="rId6"/>
    <p:sldId id="304" r:id="rId7"/>
    <p:sldId id="307" r:id="rId8"/>
    <p:sldId id="324" r:id="rId9"/>
    <p:sldId id="325" r:id="rId10"/>
    <p:sldId id="315" r:id="rId11"/>
    <p:sldId id="317" r:id="rId12"/>
    <p:sldId id="326" r:id="rId13"/>
    <p:sldId id="327" r:id="rId14"/>
    <p:sldId id="328" r:id="rId15"/>
    <p:sldId id="318" r:id="rId16"/>
    <p:sldId id="297" r:id="rId17"/>
    <p:sldId id="330" r:id="rId18"/>
    <p:sldId id="331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AE9B357-97AE-4DEE-8D86-5A0B501D8072}">
          <p14:sldIdLst>
            <p14:sldId id="312"/>
            <p14:sldId id="329"/>
            <p14:sldId id="304"/>
          </p14:sldIdLst>
        </p14:section>
        <p14:section name="Untitled Section" id="{36DB566B-CAA2-41AC-89E5-326F391EE6DE}">
          <p14:sldIdLst>
            <p14:sldId id="307"/>
          </p14:sldIdLst>
        </p14:section>
        <p14:section name="Untitled Section" id="{7247F41C-E862-4C24-9ADE-C1D4BFFC32E4}">
          <p14:sldIdLst>
            <p14:sldId id="324"/>
            <p14:sldId id="325"/>
            <p14:sldId id="315"/>
            <p14:sldId id="317"/>
            <p14:sldId id="326"/>
            <p14:sldId id="327"/>
            <p14:sldId id="328"/>
            <p14:sldId id="318"/>
            <p14:sldId id="297"/>
            <p14:sldId id="330"/>
            <p14:sldId id="331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88" autoAdjust="0"/>
  </p:normalViewPr>
  <p:slideViewPr>
    <p:cSldViewPr snapToGrid="0" snapToObjects="1">
      <p:cViewPr varScale="1">
        <p:scale>
          <a:sx n="64" d="100"/>
          <a:sy n="64" d="100"/>
        </p:scale>
        <p:origin x="978" y="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8BCB-EDFD-518B-57FB-4DFDBBB4F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C14D4-82E9-79EF-349B-54E367AFC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D7CD3-E914-EF0F-9B08-291DE2470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02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 SQL PROJECT ON BANK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50F33-160F-591F-D313-4ED848C0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689" y="329784"/>
            <a:ext cx="6220918" cy="824459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B5AB3A-6AB7-A6CD-C5C2-27ADE4EC6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917834"/>
              </p:ext>
            </p:extLst>
          </p:nvPr>
        </p:nvGraphicFramePr>
        <p:xfrm>
          <a:off x="1615607" y="1394085"/>
          <a:ext cx="8128000" cy="334280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95847584"/>
                    </a:ext>
                  </a:extLst>
                </a:gridCol>
              </a:tblGrid>
              <a:tr h="3342807">
                <a:tc>
                  <a:txBody>
                    <a:bodyPr/>
                    <a:lstStyle/>
                    <a:p>
                      <a:r>
                        <a:rPr lang="en-IN" b="1" dirty="0"/>
                        <a:t>The Bank Management System is a relational database project designed  using SQL to manage banking data efficiently.                                                                                                                                                                                                 </a:t>
                      </a:r>
                    </a:p>
                    <a:p>
                      <a:r>
                        <a:rPr lang="en-IN" b="1" dirty="0"/>
                        <a:t>       It stores and retrieves information related to Banks, Branches, Accounts, Loans, And Clients.</a:t>
                      </a:r>
                    </a:p>
                    <a:p>
                      <a:r>
                        <a:rPr lang="en-IN" b="1" dirty="0"/>
                        <a:t>         </a:t>
                      </a:r>
                    </a:p>
                    <a:p>
                      <a:pPr algn="just"/>
                      <a:r>
                        <a:rPr lang="en-IN" b="1" dirty="0"/>
                        <a:t> This project demonstrates: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lang="en-IN" b="1" dirty="0"/>
                        <a:t> Relational database design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lang="en-IN" b="1" dirty="0"/>
                        <a:t>Use of Primary and foreign keys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lang="en-IN" b="1" dirty="0"/>
                        <a:t>Data integrity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lang="en-IN" b="1" dirty="0"/>
                        <a:t>Advanced SQL querying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30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116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9588"/>
            <a:ext cx="5756223" cy="824458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498" y="1933731"/>
            <a:ext cx="7869836" cy="4182255"/>
          </a:xfrm>
        </p:spPr>
        <p:txBody>
          <a:bodyPr>
            <a:noAutofit/>
          </a:bodyPr>
          <a:lstStyle/>
          <a:p>
            <a:r>
              <a:rPr lang="en-US" sz="1600" b="1" u="sng" dirty="0">
                <a:latin typeface="+mj-lt"/>
              </a:rPr>
              <a:t>OBJECTIVE :</a:t>
            </a:r>
          </a:p>
          <a:p>
            <a:pPr marL="285750" indent="-285750">
              <a:buClr>
                <a:schemeClr val="tx2"/>
              </a:buClr>
              <a:buSzPct val="119000"/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To design a structured banking database</a:t>
            </a:r>
          </a:p>
          <a:p>
            <a:pPr marL="285750" indent="-285750">
              <a:buClr>
                <a:schemeClr val="tx2"/>
              </a:buClr>
              <a:buSzPct val="119000"/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To establish relationships among tables</a:t>
            </a:r>
          </a:p>
          <a:p>
            <a:pPr marL="285750" indent="-285750">
              <a:buClr>
                <a:schemeClr val="tx2"/>
              </a:buClr>
              <a:buSzPct val="119000"/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Apply Primary key and Foreign key</a:t>
            </a:r>
          </a:p>
          <a:p>
            <a:pPr marL="285750" indent="-285750">
              <a:buClr>
                <a:schemeClr val="tx2"/>
              </a:buClr>
              <a:buSzPct val="119000"/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To generate meaningful reports using SQL</a:t>
            </a:r>
          </a:p>
          <a:p>
            <a:pPr marL="285750" indent="-285750">
              <a:buClr>
                <a:schemeClr val="tx2"/>
              </a:buClr>
              <a:buSzPct val="119000"/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To use advances SQL concepts such as:</a:t>
            </a:r>
          </a:p>
          <a:p>
            <a:pPr marL="971550" lvl="2" indent="-285750">
              <a:buClr>
                <a:schemeClr val="tx2"/>
              </a:buClr>
              <a:buSzPct val="119000"/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Joins</a:t>
            </a:r>
          </a:p>
          <a:p>
            <a:pPr marL="971550" lvl="2" indent="-285750">
              <a:buClr>
                <a:schemeClr val="tx2"/>
              </a:buClr>
              <a:buSzPct val="119000"/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Subqueries</a:t>
            </a:r>
          </a:p>
          <a:p>
            <a:pPr marL="971550" lvl="2" indent="-285750">
              <a:buClr>
                <a:schemeClr val="tx2"/>
              </a:buClr>
              <a:buSzPct val="119000"/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CTEs</a:t>
            </a:r>
          </a:p>
          <a:p>
            <a:pPr marL="971550" lvl="2" indent="-285750">
              <a:buClr>
                <a:schemeClr val="tx2"/>
              </a:buClr>
              <a:buSzPct val="119000"/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Window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15" y="449706"/>
            <a:ext cx="7063365" cy="644576"/>
          </a:xfrm>
        </p:spPr>
        <p:txBody>
          <a:bodyPr/>
          <a:lstStyle/>
          <a:p>
            <a:pPr algn="just"/>
            <a:r>
              <a:rPr lang="en-US" dirty="0"/>
              <a:t>Tables description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B55A0B-767D-4274-6DD8-7E1B0DA5E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390" y="1543986"/>
            <a:ext cx="7854846" cy="4468017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IN" sz="2000" b="1" dirty="0">
                <a:latin typeface="+mj-lt"/>
              </a:rPr>
              <a:t>BANK TABLE</a:t>
            </a:r>
          </a:p>
          <a:p>
            <a:r>
              <a:rPr lang="en-IN" sz="2000" b="1" dirty="0">
                <a:latin typeface="+mj-lt"/>
              </a:rPr>
              <a:t>      </a:t>
            </a:r>
            <a:r>
              <a:rPr lang="en-IN" sz="1600" b="1" dirty="0">
                <a:latin typeface="+mj-lt"/>
              </a:rPr>
              <a:t>purpose : Stores bank details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bank-ID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 err="1">
                <a:latin typeface="+mj-lt"/>
              </a:rPr>
              <a:t>Bank_name</a:t>
            </a:r>
            <a:endParaRPr lang="en-IN" sz="1600" b="1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 err="1">
                <a:latin typeface="+mj-lt"/>
              </a:rPr>
              <a:t>Bank_address</a:t>
            </a:r>
            <a:r>
              <a:rPr lang="en-IN" sz="1600" b="1" dirty="0">
                <a:latin typeface="+mj-lt"/>
              </a:rPr>
              <a:t>  ,\</a:t>
            </a:r>
          </a:p>
          <a:p>
            <a:endParaRPr lang="en-IN" sz="1600" b="1" dirty="0">
              <a:latin typeface="+mj-lt"/>
            </a:endParaRPr>
          </a:p>
          <a:p>
            <a:pPr marL="342900" indent="-342900">
              <a:buAutoNum type="arabicPeriod" startAt="2"/>
            </a:pPr>
            <a:r>
              <a:rPr lang="en-IN" sz="2000" b="1" dirty="0">
                <a:latin typeface="+mj-lt"/>
              </a:rPr>
              <a:t>BRANCH TABLE</a:t>
            </a:r>
          </a:p>
          <a:p>
            <a:r>
              <a:rPr lang="en-IN" sz="1600" b="1" dirty="0">
                <a:latin typeface="+mj-lt"/>
              </a:rPr>
              <a:t>      purpose: stores branch information of banks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 err="1">
                <a:latin typeface="+mj-lt"/>
              </a:rPr>
              <a:t>Banch_ID</a:t>
            </a:r>
            <a:endParaRPr lang="en-IN" sz="1600" b="1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 err="1">
                <a:latin typeface="+mj-lt"/>
              </a:rPr>
              <a:t>Bank_ID</a:t>
            </a:r>
            <a:endParaRPr lang="en-IN" sz="1600" b="1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 err="1">
                <a:latin typeface="+mj-lt"/>
              </a:rPr>
              <a:t>Branch_name</a:t>
            </a:r>
            <a:endParaRPr lang="en-IN" sz="1600" b="1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 err="1">
                <a:latin typeface="+mj-lt"/>
              </a:rPr>
              <a:t>Branch_address</a:t>
            </a:r>
            <a:endParaRPr lang="en-IN" sz="1600" b="1" dirty="0">
              <a:latin typeface="+mj-lt"/>
            </a:endParaRPr>
          </a:p>
          <a:p>
            <a:endParaRPr lang="en-IN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F57BE-2558-3836-EA64-33763E0A7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033" y="158100"/>
            <a:ext cx="5265756" cy="769886"/>
          </a:xfrm>
        </p:spPr>
        <p:txBody>
          <a:bodyPr/>
          <a:lstStyle/>
          <a:p>
            <a:r>
              <a:rPr lang="en-IN" sz="2000" dirty="0"/>
              <a:t>    3. Account table</a:t>
            </a:r>
            <a:br>
              <a:rPr lang="en-IN" sz="2000" dirty="0"/>
            </a:br>
            <a:r>
              <a:rPr lang="en-IN" sz="2000" dirty="0"/>
              <a:t>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D7A01-757F-191B-D568-BEE429C8B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72985" y="704538"/>
            <a:ext cx="8622864" cy="59953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dirty="0">
                <a:latin typeface="+mj-lt"/>
              </a:rPr>
              <a:t>     </a:t>
            </a:r>
            <a:r>
              <a:rPr lang="en-IN" sz="1700" dirty="0">
                <a:latin typeface="+mj-lt"/>
              </a:rPr>
              <a:t>Purpose: stores customer account details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>
                <a:latin typeface="+mj-lt"/>
              </a:rPr>
              <a:t> account_ID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 err="1">
                <a:latin typeface="+mj-lt"/>
              </a:rPr>
              <a:t>Branch_id</a:t>
            </a:r>
            <a:endParaRPr lang="en-IN" sz="17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>
                <a:latin typeface="+mj-lt"/>
              </a:rPr>
              <a:t>Name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 err="1">
                <a:latin typeface="+mj-lt"/>
              </a:rPr>
              <a:t>Account_type</a:t>
            </a:r>
            <a:endParaRPr lang="en-IN" sz="1700" dirty="0">
              <a:latin typeface="+mj-lt"/>
            </a:endParaRPr>
          </a:p>
          <a:p>
            <a:pPr marL="0" indent="0">
              <a:buNone/>
            </a:pPr>
            <a:r>
              <a:rPr lang="en-IN" sz="2000" dirty="0">
                <a:latin typeface="+mj-lt"/>
              </a:rPr>
              <a:t>4. LOAN TABLE  </a:t>
            </a:r>
          </a:p>
          <a:p>
            <a:pPr marL="0" indent="0">
              <a:buNone/>
            </a:pPr>
            <a:r>
              <a:rPr lang="en-IN" sz="2000" dirty="0">
                <a:latin typeface="+mj-lt"/>
              </a:rPr>
              <a:t>    </a:t>
            </a:r>
            <a:r>
              <a:rPr lang="en-IN" sz="1700" dirty="0">
                <a:latin typeface="+mj-lt"/>
              </a:rPr>
              <a:t>purpose: stores loan detail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 err="1">
                <a:latin typeface="+mj-lt"/>
              </a:rPr>
              <a:t>loan_ID</a:t>
            </a:r>
            <a:endParaRPr lang="en-IN" sz="17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>
                <a:latin typeface="+mj-lt"/>
              </a:rPr>
              <a:t>Account_ID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 err="1">
                <a:latin typeface="+mj-lt"/>
              </a:rPr>
              <a:t>Loan_type</a:t>
            </a:r>
            <a:endParaRPr lang="en-IN" sz="17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 err="1">
                <a:latin typeface="+mj-lt"/>
              </a:rPr>
              <a:t>Loan_amount</a:t>
            </a:r>
            <a:endParaRPr lang="en-IN" sz="1700" dirty="0">
              <a:latin typeface="+mj-lt"/>
            </a:endParaRPr>
          </a:p>
          <a:p>
            <a:pPr marL="0" indent="0">
              <a:buNone/>
            </a:pPr>
            <a:r>
              <a:rPr lang="en-IN" sz="2200" dirty="0">
                <a:latin typeface="+mj-lt"/>
              </a:rPr>
              <a:t>5.CLIENT TABLE</a:t>
            </a:r>
          </a:p>
          <a:p>
            <a:pPr marL="0" indent="0">
              <a:buNone/>
            </a:pPr>
            <a:r>
              <a:rPr lang="en-IN" sz="2200" dirty="0">
                <a:latin typeface="+mj-lt"/>
              </a:rPr>
              <a:t>    </a:t>
            </a:r>
            <a:r>
              <a:rPr lang="en-IN" sz="1700" dirty="0">
                <a:latin typeface="+mj-lt"/>
              </a:rPr>
              <a:t>purpose: stores client personal detail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 err="1">
                <a:latin typeface="+mj-lt"/>
              </a:rPr>
              <a:t>Client_ID</a:t>
            </a:r>
            <a:endParaRPr lang="en-IN" sz="17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>
                <a:latin typeface="+mj-lt"/>
              </a:rPr>
              <a:t>Account_ID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>
                <a:latin typeface="+mj-lt"/>
              </a:rPr>
              <a:t>Name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 err="1">
                <a:latin typeface="+mj-lt"/>
              </a:rPr>
              <a:t>client_address</a:t>
            </a:r>
            <a:r>
              <a:rPr lang="en-IN" sz="1700" dirty="0">
                <a:latin typeface="+mj-lt"/>
              </a:rPr>
              <a:t>  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20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2F931-6DEA-327B-5EC0-E96836A5E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74F2CA88-526B-9FC5-FB5A-899624005E98}"/>
              </a:ext>
            </a:extLst>
          </p:cNvPr>
          <p:cNvSpPr/>
          <p:nvPr/>
        </p:nvSpPr>
        <p:spPr>
          <a:xfrm>
            <a:off x="1266554" y="393139"/>
            <a:ext cx="599607" cy="59960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C105D221-DF8C-2321-5852-852338D004A4}"/>
              </a:ext>
            </a:extLst>
          </p:cNvPr>
          <p:cNvSpPr/>
          <p:nvPr/>
        </p:nvSpPr>
        <p:spPr>
          <a:xfrm>
            <a:off x="1723869" y="2818151"/>
            <a:ext cx="419724" cy="71952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1DF42074-2084-CBC2-13D4-891F6B718AD9}"/>
              </a:ext>
            </a:extLst>
          </p:cNvPr>
          <p:cNvSpPr/>
          <p:nvPr/>
        </p:nvSpPr>
        <p:spPr>
          <a:xfrm>
            <a:off x="719528" y="2818151"/>
            <a:ext cx="419724" cy="71952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5010326B-19EA-CC90-17B0-F48EF5D87EF2}"/>
              </a:ext>
            </a:extLst>
          </p:cNvPr>
          <p:cNvSpPr/>
          <p:nvPr/>
        </p:nvSpPr>
        <p:spPr>
          <a:xfrm>
            <a:off x="1266554" y="5126636"/>
            <a:ext cx="457315" cy="59960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682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68BA-BE16-CB7F-394E-B44DC1A3E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979" y="1"/>
            <a:ext cx="7475621" cy="928688"/>
          </a:xfrm>
        </p:spPr>
        <p:txBody>
          <a:bodyPr/>
          <a:lstStyle/>
          <a:p>
            <a:r>
              <a:rPr lang="en-IN" dirty="0"/>
              <a:t>REPORTS AND QUERIES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C6C8BA-7EFA-910E-9B89-6470703B57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EE969-F078-A8E2-05AE-55782B0A62B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01980" y="1094282"/>
            <a:ext cx="4796588" cy="305167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JOIN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dirty="0"/>
              <a:t> (bank-branch report)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024F31-BBCA-D942-1C31-255862DAF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659" y="2184752"/>
            <a:ext cx="4279229" cy="18825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D96C16-B502-4475-7FE3-1E1D70F9B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788876"/>
            <a:ext cx="7844591" cy="161192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B0260D1-4BD5-6D24-9E9A-E254181B5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090661"/>
              </p:ext>
            </p:extLst>
          </p:nvPr>
        </p:nvGraphicFramePr>
        <p:xfrm>
          <a:off x="3657600" y="4311552"/>
          <a:ext cx="6502399" cy="231383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502399">
                  <a:extLst>
                    <a:ext uri="{9D8B030D-6E8A-4147-A177-3AD203B41FA5}">
                      <a16:colId xmlns:a16="http://schemas.microsoft.com/office/drawing/2014/main" val="542708898"/>
                    </a:ext>
                  </a:extLst>
                </a:gridCol>
              </a:tblGrid>
              <a:tr h="231383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dirty="0"/>
                        <a:t>      (BANK –BRANCH-ACCOUNT REPORT)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24858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19D77CA-152F-11DA-5B43-FBCC8FAAB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7247" y="2052368"/>
            <a:ext cx="2915652" cy="172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6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13" y="299802"/>
            <a:ext cx="6565692" cy="884422"/>
          </a:xfrm>
        </p:spPr>
        <p:txBody>
          <a:bodyPr/>
          <a:lstStyle/>
          <a:p>
            <a:r>
              <a:rPr lang="en-US" sz="2000" dirty="0"/>
              <a:t>BANK+BRANCH+ACCOUNT+LOAN REPOTS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563C0-61D1-727F-8B73-CCC9B4CD6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52" y="928688"/>
            <a:ext cx="7644984" cy="1923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DDC55C-522A-4DBE-2314-E08B35880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06" y="3256549"/>
            <a:ext cx="6400799" cy="1720185"/>
          </a:xfrm>
          <a:prstGeom prst="rect">
            <a:avLst/>
          </a:prstGeom>
        </p:spPr>
      </p:pic>
      <p:sp>
        <p:nvSpPr>
          <p:cNvPr id="4" name="Star: 5 Points 3">
            <a:extLst>
              <a:ext uri="{FF2B5EF4-FFF2-40B4-BE49-F238E27FC236}">
                <a16:creationId xmlns:a16="http://schemas.microsoft.com/office/drawing/2014/main" id="{198679C4-3744-FFDD-B346-80E6DB90168A}"/>
              </a:ext>
            </a:extLst>
          </p:cNvPr>
          <p:cNvSpPr/>
          <p:nvPr/>
        </p:nvSpPr>
        <p:spPr>
          <a:xfrm>
            <a:off x="10043409" y="457199"/>
            <a:ext cx="869429" cy="72702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E8B461C9-571A-B3C3-7D08-2FF4333672DD}"/>
              </a:ext>
            </a:extLst>
          </p:cNvPr>
          <p:cNvSpPr/>
          <p:nvPr/>
        </p:nvSpPr>
        <p:spPr>
          <a:xfrm>
            <a:off x="10043409" y="2278505"/>
            <a:ext cx="987552" cy="57331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1D0E69C7-9535-DB75-66BC-493FE3D95FF2}"/>
              </a:ext>
            </a:extLst>
          </p:cNvPr>
          <p:cNvSpPr/>
          <p:nvPr/>
        </p:nvSpPr>
        <p:spPr>
          <a:xfrm>
            <a:off x="10438475" y="4092315"/>
            <a:ext cx="699217" cy="47148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22CEE112-90D7-2071-77D0-66E24EA010FF}"/>
              </a:ext>
            </a:extLst>
          </p:cNvPr>
          <p:cNvSpPr/>
          <p:nvPr/>
        </p:nvSpPr>
        <p:spPr>
          <a:xfrm>
            <a:off x="10912838" y="5254754"/>
            <a:ext cx="987552" cy="47148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7631709" cy="637082"/>
          </a:xfrm>
        </p:spPr>
        <p:txBody>
          <a:bodyPr/>
          <a:lstStyle/>
          <a:p>
            <a:r>
              <a:rPr lang="en-US" sz="2000" dirty="0"/>
              <a:t>SUBQUERY:--</a:t>
            </a:r>
            <a:br>
              <a:rPr lang="en-US" sz="2000" dirty="0"/>
            </a:br>
            <a:r>
              <a:rPr lang="en-US" sz="2000" dirty="0"/>
              <a:t>       </a:t>
            </a:r>
            <a:r>
              <a:rPr lang="en-US" sz="1600" dirty="0"/>
              <a:t>CUSTOMERS HAVING LOAN AMOUNT GREATERTHAN 20000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B6794A-2885-25FD-ECD9-1D278898EA92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745972" y="1266828"/>
            <a:ext cx="4832940" cy="1753315"/>
          </a:xfrm>
          <a:prstGeom prst="rect">
            <a:avLst/>
          </a:prstGeom>
        </p:spPr>
      </p:pic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4734" y="3595534"/>
            <a:ext cx="8584720" cy="37630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C37E70-7FB0-9368-93F7-D5171203B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749" y="1625200"/>
            <a:ext cx="2477888" cy="101389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4C1F7A-CD9C-37DD-0699-1DB2F498E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140982"/>
              </p:ext>
            </p:extLst>
          </p:nvPr>
        </p:nvGraphicFramePr>
        <p:xfrm>
          <a:off x="404734" y="3382775"/>
          <a:ext cx="7746584" cy="370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746584">
                  <a:extLst>
                    <a:ext uri="{9D8B030D-6E8A-4147-A177-3AD203B41FA5}">
                      <a16:colId xmlns:a16="http://schemas.microsoft.com/office/drawing/2014/main" val="338403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CTE: Customers who took home loan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43259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B250C944-3A71-191B-8359-F938B8578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34" y="3911696"/>
            <a:ext cx="5174178" cy="23050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51E0CF-4891-E3E8-0473-AB76BC9169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981" y="4286270"/>
            <a:ext cx="2572406" cy="1190796"/>
          </a:xfrm>
          <a:prstGeom prst="rect">
            <a:avLst/>
          </a:prstGeom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A720ECBE-6D96-66B4-FB64-6BCF4D9181DC}"/>
              </a:ext>
            </a:extLst>
          </p:cNvPr>
          <p:cNvSpPr/>
          <p:nvPr/>
        </p:nvSpPr>
        <p:spPr>
          <a:xfrm>
            <a:off x="10892231" y="5486401"/>
            <a:ext cx="1157764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78BFE-BA00-0354-6065-6E19E66A2CF9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84420" y="3429000"/>
            <a:ext cx="7566155" cy="342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CTE: Clients Having Any Loan with Address wise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03525F5-4DA4-262B-91CF-6D963F6639E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35820260"/>
              </p:ext>
            </p:extLst>
          </p:nvPr>
        </p:nvGraphicFramePr>
        <p:xfrm>
          <a:off x="765974" y="457199"/>
          <a:ext cx="7779539" cy="27057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779539">
                  <a:extLst>
                    <a:ext uri="{9D8B030D-6E8A-4147-A177-3AD203B41FA5}">
                      <a16:colId xmlns:a16="http://schemas.microsoft.com/office/drawing/2014/main" val="3170901887"/>
                    </a:ext>
                  </a:extLst>
                </a:gridCol>
              </a:tblGrid>
              <a:tr h="2705726">
                <a:tc>
                  <a:txBody>
                    <a:bodyPr/>
                    <a:lstStyle/>
                    <a:p>
                      <a:r>
                        <a:rPr lang="en-IN" dirty="0"/>
                        <a:t>CTE: Loan details with customer Name wise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58056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21B5C-21B2-2C61-0753-D1F820289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CB8B04-2E3B-8454-869A-56D679810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458" y="1020327"/>
            <a:ext cx="4267059" cy="20414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DB731A-11C6-49D0-2CBC-3C1CA46E6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351924"/>
            <a:ext cx="3647607" cy="13013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9B77E0-A3FF-885B-9539-1A0E0ECA5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077" y="3950862"/>
            <a:ext cx="3984440" cy="24499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587E5F-4C2F-2F75-6262-3B23E6443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324" y="4105975"/>
            <a:ext cx="3417572" cy="2075049"/>
          </a:xfrm>
          <a:prstGeom prst="rect">
            <a:avLst/>
          </a:prstGeom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1CED1A9E-D70D-746D-2746-8502B3234A65}"/>
              </a:ext>
            </a:extLst>
          </p:cNvPr>
          <p:cNvSpPr/>
          <p:nvPr/>
        </p:nvSpPr>
        <p:spPr>
          <a:xfrm>
            <a:off x="11011298" y="5448924"/>
            <a:ext cx="509666" cy="524656"/>
          </a:xfrm>
          <a:prstGeom prst="star5">
            <a:avLst>
              <a:gd name="adj" fmla="val 13820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321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F2C4-C76E-C214-B1E5-4D660CF43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318" y="299804"/>
            <a:ext cx="8469443" cy="790702"/>
          </a:xfrm>
        </p:spPr>
        <p:txBody>
          <a:bodyPr/>
          <a:lstStyle/>
          <a:p>
            <a:pPr algn="ctr"/>
            <a:r>
              <a:rPr lang="en-US" sz="2000" dirty="0"/>
              <a:t>TOTAL LOAN AMOUNT PER  BRANCH USING "</a:t>
            </a:r>
            <a:r>
              <a:rPr lang="en-US" sz="2000" dirty="0" err="1"/>
              <a:t>Cte</a:t>
            </a:r>
            <a:r>
              <a:rPr lang="en-US" sz="2000" dirty="0"/>
              <a:t>” (JOIN+GROUP BY)</a:t>
            </a:r>
            <a:endParaRPr lang="en-IN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BFB925-A8FA-7CAE-D771-889F9726AF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758190" y="1139253"/>
            <a:ext cx="4444962" cy="24733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72EFD-485A-82D4-E524-6C87E4D01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B301A9-3C15-49B8-A3F2-55D689489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275" y="1348550"/>
            <a:ext cx="2953162" cy="1739192"/>
          </a:xfrm>
          <a:prstGeom prst="rect">
            <a:avLst/>
          </a:prstGeom>
        </p:spPr>
      </p:pic>
      <p:sp>
        <p:nvSpPr>
          <p:cNvPr id="9" name="Sun 8">
            <a:extLst>
              <a:ext uri="{FF2B5EF4-FFF2-40B4-BE49-F238E27FC236}">
                <a16:creationId xmlns:a16="http://schemas.microsoft.com/office/drawing/2014/main" id="{4C86A241-16C5-909C-7936-E6A12EEEC90A}"/>
              </a:ext>
            </a:extLst>
          </p:cNvPr>
          <p:cNvSpPr/>
          <p:nvPr/>
        </p:nvSpPr>
        <p:spPr>
          <a:xfrm>
            <a:off x="614597" y="1008089"/>
            <a:ext cx="685172" cy="629586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tar: 7 Points 9">
            <a:extLst>
              <a:ext uri="{FF2B5EF4-FFF2-40B4-BE49-F238E27FC236}">
                <a16:creationId xmlns:a16="http://schemas.microsoft.com/office/drawing/2014/main" id="{A81C24AC-2BC1-772C-152D-67CF02031334}"/>
              </a:ext>
            </a:extLst>
          </p:cNvPr>
          <p:cNvSpPr/>
          <p:nvPr/>
        </p:nvSpPr>
        <p:spPr>
          <a:xfrm>
            <a:off x="745133" y="3162648"/>
            <a:ext cx="554636" cy="839450"/>
          </a:xfrm>
          <a:prstGeom prst="star7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un 10">
            <a:extLst>
              <a:ext uri="{FF2B5EF4-FFF2-40B4-BE49-F238E27FC236}">
                <a16:creationId xmlns:a16="http://schemas.microsoft.com/office/drawing/2014/main" id="{8353F38D-0BF2-51FA-C032-48D646D52281}"/>
              </a:ext>
            </a:extLst>
          </p:cNvPr>
          <p:cNvSpPr/>
          <p:nvPr/>
        </p:nvSpPr>
        <p:spPr>
          <a:xfrm>
            <a:off x="149902" y="5819930"/>
            <a:ext cx="929390" cy="629586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Star: 6 Points 11">
            <a:extLst>
              <a:ext uri="{FF2B5EF4-FFF2-40B4-BE49-F238E27FC236}">
                <a16:creationId xmlns:a16="http://schemas.microsoft.com/office/drawing/2014/main" id="{226BD927-F29F-40E7-2DD5-6ABB652B816D}"/>
              </a:ext>
            </a:extLst>
          </p:cNvPr>
          <p:cNvSpPr/>
          <p:nvPr/>
        </p:nvSpPr>
        <p:spPr>
          <a:xfrm>
            <a:off x="1299769" y="5051685"/>
            <a:ext cx="349149" cy="629586"/>
          </a:xfrm>
          <a:prstGeom prst="star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42E82D-7A24-40E9-320A-6F488BECD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18256"/>
              </p:ext>
            </p:extLst>
          </p:nvPr>
        </p:nvGraphicFramePr>
        <p:xfrm>
          <a:off x="2904760" y="3927422"/>
          <a:ext cx="9287239" cy="263077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9287239">
                  <a:extLst>
                    <a:ext uri="{9D8B030D-6E8A-4147-A177-3AD203B41FA5}">
                      <a16:colId xmlns:a16="http://schemas.microsoft.com/office/drawing/2014/main" val="3361125466"/>
                    </a:ext>
                  </a:extLst>
                </a:gridCol>
              </a:tblGrid>
              <a:tr h="2630774">
                <a:tc>
                  <a:txBody>
                    <a:bodyPr/>
                    <a:lstStyle/>
                    <a:p>
                      <a:r>
                        <a:rPr lang="en-US" dirty="0"/>
                        <a:t>### using ” partition by” to group calculations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273216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3473034-D06F-2A7D-B5AA-6B4746BCA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830" y="4433038"/>
            <a:ext cx="4096322" cy="17052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E1FA551-145B-8A06-F7A8-EFD4CF3608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164" y="4336373"/>
            <a:ext cx="4582164" cy="134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30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C1341-2126-B267-63C4-F27DAFFCB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26" y="457199"/>
            <a:ext cx="11006302" cy="471489"/>
          </a:xfrm>
        </p:spPr>
        <p:txBody>
          <a:bodyPr/>
          <a:lstStyle/>
          <a:p>
            <a:r>
              <a:rPr lang="en-US" sz="2000" dirty="0"/>
              <a:t>   COMBINING EVERYTHING:RUNNING TOTALS COMPARISONS</a:t>
            </a:r>
            <a:endParaRPr lang="en-IN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902BB1-1C59-3DBE-A090-07C9359164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9587" y="1095213"/>
            <a:ext cx="9186708" cy="1299464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CE5ABB7-90CB-1460-EBFB-739AA3337FF2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237563101"/>
              </p:ext>
            </p:extLst>
          </p:nvPr>
        </p:nvGraphicFramePr>
        <p:xfrm>
          <a:off x="629587" y="3860667"/>
          <a:ext cx="10795652" cy="47148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795652">
                  <a:extLst>
                    <a:ext uri="{9D8B030D-6E8A-4147-A177-3AD203B41FA5}">
                      <a16:colId xmlns:a16="http://schemas.microsoft.com/office/drawing/2014/main" val="806771007"/>
                    </a:ext>
                  </a:extLst>
                </a:gridCol>
              </a:tblGrid>
              <a:tr h="47148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99121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F943D-2ADB-0C03-6486-BB9A65AD22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934385-9A52-7557-557A-5A43D1EFB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1" y="2561202"/>
            <a:ext cx="7043114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82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188565"/>
            <a:ext cx="6903076" cy="3865044"/>
          </a:xfrm>
        </p:spPr>
        <p:txBody>
          <a:bodyPr/>
          <a:lstStyle/>
          <a:p>
            <a:r>
              <a:rPr lang="en-US" dirty="0"/>
              <a:t>This project demonstates: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Proper relational database design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Use of constaints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Advanced SQL queries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Real_world banking senario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562" y="849782"/>
            <a:ext cx="9975272" cy="4455693"/>
          </a:xfrm>
        </p:spPr>
        <p:txBody>
          <a:bodyPr anchor="ctr"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978B4F8B-D879-8822-D667-555245CE7641}"/>
              </a:ext>
            </a:extLst>
          </p:cNvPr>
          <p:cNvSpPr/>
          <p:nvPr/>
        </p:nvSpPr>
        <p:spPr>
          <a:xfrm>
            <a:off x="8334531" y="2293495"/>
            <a:ext cx="449705" cy="76449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EBB0EDF7-5C95-CF0E-1FEB-6DAC8C4F097A}"/>
              </a:ext>
            </a:extLst>
          </p:cNvPr>
          <p:cNvSpPr/>
          <p:nvPr/>
        </p:nvSpPr>
        <p:spPr>
          <a:xfrm>
            <a:off x="9323882" y="2548328"/>
            <a:ext cx="224852" cy="50966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5E55F9DA-6E42-91B5-9E95-B85749A48888}"/>
              </a:ext>
            </a:extLst>
          </p:cNvPr>
          <p:cNvSpPr/>
          <p:nvPr/>
        </p:nvSpPr>
        <p:spPr>
          <a:xfrm>
            <a:off x="8904157" y="3282846"/>
            <a:ext cx="284813" cy="35976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9CD073BA-55E2-491D-C5EA-D8AD25DFFD1F}"/>
              </a:ext>
            </a:extLst>
          </p:cNvPr>
          <p:cNvSpPr/>
          <p:nvPr/>
        </p:nvSpPr>
        <p:spPr>
          <a:xfrm>
            <a:off x="10463134" y="4931764"/>
            <a:ext cx="884420" cy="61459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AA14B59D-4BE2-F136-F15A-DD8287FD1417}"/>
              </a:ext>
            </a:extLst>
          </p:cNvPr>
          <p:cNvSpPr/>
          <p:nvPr/>
        </p:nvSpPr>
        <p:spPr>
          <a:xfrm>
            <a:off x="11148834" y="3882452"/>
            <a:ext cx="558484" cy="61459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F0BC5C11-F6EE-CE55-862C-81C0A0389491}"/>
              </a:ext>
            </a:extLst>
          </p:cNvPr>
          <p:cNvSpPr/>
          <p:nvPr/>
        </p:nvSpPr>
        <p:spPr>
          <a:xfrm>
            <a:off x="10298243" y="4092315"/>
            <a:ext cx="419724" cy="40473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FB4AB3EB-8FE3-7418-5627-9D4FA7486F55}"/>
              </a:ext>
            </a:extLst>
          </p:cNvPr>
          <p:cNvSpPr/>
          <p:nvPr/>
        </p:nvSpPr>
        <p:spPr>
          <a:xfrm>
            <a:off x="9959040" y="887645"/>
            <a:ext cx="1469036" cy="84798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032118C9-5F07-3445-DD34-7CBBEA287410}"/>
              </a:ext>
            </a:extLst>
          </p:cNvPr>
          <p:cNvSpPr/>
          <p:nvPr/>
        </p:nvSpPr>
        <p:spPr>
          <a:xfrm>
            <a:off x="9548734" y="1499016"/>
            <a:ext cx="211586" cy="23661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862D46FA-20A3-7BDE-EA04-C9585B758EC8}"/>
              </a:ext>
            </a:extLst>
          </p:cNvPr>
          <p:cNvSpPr/>
          <p:nvPr/>
        </p:nvSpPr>
        <p:spPr>
          <a:xfrm>
            <a:off x="10463134" y="1978702"/>
            <a:ext cx="254833" cy="19164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233BB3CD-AF43-C2D3-065F-3AB6B8A450ED}"/>
              </a:ext>
            </a:extLst>
          </p:cNvPr>
          <p:cNvSpPr/>
          <p:nvPr/>
        </p:nvSpPr>
        <p:spPr>
          <a:xfrm>
            <a:off x="11148834" y="1978702"/>
            <a:ext cx="449705" cy="31479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9BFFD-6BD6-BEB6-A9B4-7DDE9EC26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7811-8DE9-599D-6005-C5AA32D7C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562" y="849782"/>
            <a:ext cx="9975272" cy="4455693"/>
          </a:xfrm>
        </p:spPr>
        <p:txBody>
          <a:bodyPr anchor="ctr"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E3FD1D7C-11A0-6A68-729B-65EDB11E281F}"/>
              </a:ext>
            </a:extLst>
          </p:cNvPr>
          <p:cNvSpPr/>
          <p:nvPr/>
        </p:nvSpPr>
        <p:spPr>
          <a:xfrm>
            <a:off x="8334531" y="2293495"/>
            <a:ext cx="449705" cy="76449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6A733A4-365D-2369-7ABA-AB9537ED9682}"/>
              </a:ext>
            </a:extLst>
          </p:cNvPr>
          <p:cNvSpPr/>
          <p:nvPr/>
        </p:nvSpPr>
        <p:spPr>
          <a:xfrm>
            <a:off x="9323882" y="2548328"/>
            <a:ext cx="224852" cy="50966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F0366B78-A90A-74DD-EADC-D9D1D054D43A}"/>
              </a:ext>
            </a:extLst>
          </p:cNvPr>
          <p:cNvSpPr/>
          <p:nvPr/>
        </p:nvSpPr>
        <p:spPr>
          <a:xfrm>
            <a:off x="8904157" y="3282846"/>
            <a:ext cx="284813" cy="35976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2772DC1E-2753-2852-F8A7-0A8C1350DB1C}"/>
              </a:ext>
            </a:extLst>
          </p:cNvPr>
          <p:cNvSpPr/>
          <p:nvPr/>
        </p:nvSpPr>
        <p:spPr>
          <a:xfrm>
            <a:off x="10463134" y="4931764"/>
            <a:ext cx="884420" cy="61459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8F9ABEC3-5616-CF81-4D02-2BACC46779B8}"/>
              </a:ext>
            </a:extLst>
          </p:cNvPr>
          <p:cNvSpPr/>
          <p:nvPr/>
        </p:nvSpPr>
        <p:spPr>
          <a:xfrm>
            <a:off x="11148834" y="3882452"/>
            <a:ext cx="558484" cy="61459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A0A04FD7-9AAD-5F27-DB28-33DF4E0E3004}"/>
              </a:ext>
            </a:extLst>
          </p:cNvPr>
          <p:cNvSpPr/>
          <p:nvPr/>
        </p:nvSpPr>
        <p:spPr>
          <a:xfrm>
            <a:off x="10298243" y="4092315"/>
            <a:ext cx="419724" cy="40473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88FDE3D4-FED1-868C-871C-5EB336AC2F92}"/>
              </a:ext>
            </a:extLst>
          </p:cNvPr>
          <p:cNvSpPr/>
          <p:nvPr/>
        </p:nvSpPr>
        <p:spPr>
          <a:xfrm>
            <a:off x="9959040" y="887645"/>
            <a:ext cx="1469036" cy="84798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362DA0D3-36FB-3DE1-1411-ACE9090A69EE}"/>
              </a:ext>
            </a:extLst>
          </p:cNvPr>
          <p:cNvSpPr/>
          <p:nvPr/>
        </p:nvSpPr>
        <p:spPr>
          <a:xfrm>
            <a:off x="9548734" y="1499016"/>
            <a:ext cx="211586" cy="23661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322FD328-39C8-77D0-D3D7-25570534A1A1}"/>
              </a:ext>
            </a:extLst>
          </p:cNvPr>
          <p:cNvSpPr/>
          <p:nvPr/>
        </p:nvSpPr>
        <p:spPr>
          <a:xfrm>
            <a:off x="10463134" y="1978702"/>
            <a:ext cx="254833" cy="19164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9538B939-A152-287D-ED7C-4BD466426FE7}"/>
              </a:ext>
            </a:extLst>
          </p:cNvPr>
          <p:cNvSpPr/>
          <p:nvPr/>
        </p:nvSpPr>
        <p:spPr>
          <a:xfrm>
            <a:off x="11148834" y="1978702"/>
            <a:ext cx="449705" cy="31479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247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06292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{DB4F7908-4D9A-47EC-B0B9-258B89448BF6}TF8a9b5915-b8c7-461e-8cdd-693d48b5e32371f7b7e2_win32-4bf0b9a2ea37</Template>
  <TotalTime>604</TotalTime>
  <Words>338</Words>
  <Application>Microsoft Office PowerPoint</Application>
  <PresentationFormat>Widescreen</PresentationFormat>
  <Paragraphs>82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Sabon Next LT</vt:lpstr>
      <vt:lpstr>Wingdings</vt:lpstr>
      <vt:lpstr>Custom</vt:lpstr>
      <vt:lpstr> SQL PROJECT ON BANK MANAGEMENT SYSTEM</vt:lpstr>
      <vt:lpstr>INTRODUCTION</vt:lpstr>
      <vt:lpstr>PROJECT OVERVIEW</vt:lpstr>
      <vt:lpstr>Tables description</vt:lpstr>
      <vt:lpstr>    3. Account table      </vt:lpstr>
      <vt:lpstr>REPORTS AND QUERIES</vt:lpstr>
      <vt:lpstr>BANK+BRANCH+ACCOUNT+LOAN REPOTS  </vt:lpstr>
      <vt:lpstr>SUBQUERY:--        CUSTOMERS HAVING LOAN AMOUNT GREATERTHAN 20000</vt:lpstr>
      <vt:lpstr>PowerPoint Presentation</vt:lpstr>
      <vt:lpstr>TOTAL LOAN AMOUNT PER  BRANCH USING "Cte” (JOIN+GROUP BY)</vt:lpstr>
      <vt:lpstr>   COMBINING EVERYTHING:RUNNING TOTALS COMPARISONS</vt:lpstr>
      <vt:lpstr>CONCLUSION</vt:lpstr>
      <vt:lpstr>Thank you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SQL PROJECT ON BANK MANAGEMENT SYSTEM</dc:title>
  <dc:subject/>
  <dc:creator>Bhavani Chennaboina</dc:creator>
  <cp:lastModifiedBy>Bhavani Chennaboina</cp:lastModifiedBy>
  <cp:revision>3</cp:revision>
  <dcterms:created xsi:type="dcterms:W3CDTF">2026-02-05T16:30:41Z</dcterms:created>
  <dcterms:modified xsi:type="dcterms:W3CDTF">2026-04-25T09:38:59Z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